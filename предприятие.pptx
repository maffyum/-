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D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844" autoAdjust="0"/>
  </p:normalViewPr>
  <p:slideViewPr>
    <p:cSldViewPr snapToGrid="0">
      <p:cViewPr varScale="1">
        <p:scale>
          <a:sx n="151" d="100"/>
          <a:sy n="151" d="100"/>
        </p:scale>
        <p:origin x="288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3A74B2-5875-4F12-A8ED-9B6F67C5F22D}" type="datetimeFigureOut">
              <a:rPr lang="ru-RU" smtClean="0"/>
              <a:t>15.03.2026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6F2344-FB88-4075-A063-AE9AFAE778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29384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6F2344-FB88-4075-A063-AE9AFAE77845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27923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3658C105-D572-47BD-9312-386FCFE3516F}" type="datetimeFigureOut">
              <a:rPr lang="ru-RU" smtClean="0"/>
              <a:t>15.03.2026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2726965B-F2C8-4EA4-903F-73E8FA4D52CB}" type="slidenum">
              <a:rPr lang="ru-RU" smtClean="0"/>
              <a:t>‹#›</a:t>
            </a:fld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6764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8C105-D572-47BD-9312-386FCFE3516F}" type="datetimeFigureOut">
              <a:rPr lang="ru-RU" smtClean="0"/>
              <a:t>15.03.2026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6965B-F2C8-4EA4-903F-73E8FA4D52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9795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8C105-D572-47BD-9312-386FCFE3516F}" type="datetimeFigureOut">
              <a:rPr lang="ru-RU" smtClean="0"/>
              <a:t>15.03.2026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6965B-F2C8-4EA4-903F-73E8FA4D52CB}" type="slidenum">
              <a:rPr lang="ru-RU" smtClean="0"/>
              <a:t>‹#›</a:t>
            </a:fld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281273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8C105-D572-47BD-9312-386FCFE3516F}" type="datetimeFigureOut">
              <a:rPr lang="ru-RU" smtClean="0"/>
              <a:t>15.03.2026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6965B-F2C8-4EA4-903F-73E8FA4D52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2090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8C105-D572-47BD-9312-386FCFE3516F}" type="datetimeFigureOut">
              <a:rPr lang="ru-RU" smtClean="0"/>
              <a:t>15.03.2026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6965B-F2C8-4EA4-903F-73E8FA4D52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5997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8C105-D572-47BD-9312-386FCFE3516F}" type="datetimeFigureOut">
              <a:rPr lang="ru-RU" smtClean="0"/>
              <a:t>15.03.2026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6965B-F2C8-4EA4-903F-73E8FA4D52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8220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8C105-D572-47BD-9312-386FCFE3516F}" type="datetimeFigureOut">
              <a:rPr lang="ru-RU" smtClean="0"/>
              <a:t>15.03.2026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6965B-F2C8-4EA4-903F-73E8FA4D52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2239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8C105-D572-47BD-9312-386FCFE3516F}" type="datetimeFigureOut">
              <a:rPr lang="ru-RU" smtClean="0"/>
              <a:t>15.03.2026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6965B-F2C8-4EA4-903F-73E8FA4D52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6664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8C105-D572-47BD-9312-386FCFE3516F}" type="datetimeFigureOut">
              <a:rPr lang="ru-RU" smtClean="0"/>
              <a:t>15.03.2026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6965B-F2C8-4EA4-903F-73E8FA4D52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5658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8C105-D572-47BD-9312-386FCFE3516F}" type="datetimeFigureOut">
              <a:rPr lang="ru-RU" smtClean="0"/>
              <a:t>15.03.2026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6965B-F2C8-4EA4-903F-73E8FA4D52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65120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8C105-D572-47BD-9312-386FCFE3516F}" type="datetimeFigureOut">
              <a:rPr lang="ru-RU" smtClean="0"/>
              <a:t>15.03.2026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6965B-F2C8-4EA4-903F-73E8FA4D52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0075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3658C105-D572-47BD-9312-386FCFE3516F}" type="datetimeFigureOut">
              <a:rPr lang="ru-RU" smtClean="0"/>
              <a:t>15.03.2026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2726965B-F2C8-4EA4-903F-73E8FA4D52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207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C079CA-65C4-4CE5-8601-125C562835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40" y="-479298"/>
            <a:ext cx="9418320" cy="4041648"/>
          </a:xfrm>
        </p:spPr>
        <p:txBody>
          <a:bodyPr>
            <a:normAutofit/>
          </a:bodyPr>
          <a:lstStyle/>
          <a:p>
            <a:pPr algn="ctr"/>
            <a:r>
              <a:rPr lang="ru-RU" dirty="0"/>
              <a:t>«</a:t>
            </a:r>
            <a:r>
              <a:rPr lang="ru-RU" sz="5300" dirty="0"/>
              <a:t>Создание предприятия по производству безопасных развивающих игрушек для детей 3–10 лет»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AA2BB29-3010-480A-9E05-6FB0A0EC48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6840" y="3429000"/>
            <a:ext cx="9418320" cy="1691640"/>
          </a:xfrm>
        </p:spPr>
        <p:txBody>
          <a:bodyPr>
            <a:normAutofit/>
          </a:bodyPr>
          <a:lstStyle/>
          <a:p>
            <a:pPr algn="l"/>
            <a:endParaRPr lang="ru-RU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algn="ctr"/>
            <a:r>
              <a:rPr lang="ru-RU" sz="1800" dirty="0">
                <a:solidFill>
                  <a:srgbClr val="000000"/>
                </a:solidFill>
                <a:latin typeface="Calibri" panose="020F0502020204030204" pitchFamily="34" charset="0"/>
              </a:rPr>
              <a:t>К</a:t>
            </a:r>
            <a:r>
              <a:rPr lang="ru-RU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уценко Вера Андреевна,</a:t>
            </a:r>
            <a:r>
              <a:rPr lang="ru-RU" sz="18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ru-RU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Базов Алексей Витальевич, Вавилова Ульяна Вадимовна</a:t>
            </a:r>
          </a:p>
          <a:p>
            <a:pPr algn="ctr"/>
            <a:r>
              <a:rPr lang="ru-RU" sz="1800" dirty="0">
                <a:solidFill>
                  <a:srgbClr val="000000"/>
                </a:solidFill>
                <a:latin typeface="Calibri" panose="020F0502020204030204" pitchFamily="34" charset="0"/>
              </a:rPr>
              <a:t>ИСс24-1</a:t>
            </a:r>
            <a:endParaRPr lang="ru-RU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5DFD41-8667-450C-8A61-11EE40BD69D5}"/>
              </a:ext>
            </a:extLst>
          </p:cNvPr>
          <p:cNvSpPr txBox="1"/>
          <p:nvPr/>
        </p:nvSpPr>
        <p:spPr>
          <a:xfrm>
            <a:off x="5486400" y="619125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96960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040B9E-9C95-4F8E-96B8-EB9DB2AA0593}"/>
              </a:ext>
            </a:extLst>
          </p:cNvPr>
          <p:cNvSpPr txBox="1"/>
          <p:nvPr/>
        </p:nvSpPr>
        <p:spPr>
          <a:xfrm>
            <a:off x="369324" y="353114"/>
            <a:ext cx="10603476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u="sng" dirty="0"/>
              <a:t>Ситуация на рынке сегодня</a:t>
            </a:r>
            <a:r>
              <a:rPr lang="ru-RU" u="sng" dirty="0"/>
              <a:t>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ru-RU" sz="2000" u="sng" dirty="0"/>
          </a:p>
          <a:p>
            <a:pPr marL="285750" indent="-285750">
              <a:buFont typeface="Calibri" panose="020F0502020204030204" pitchFamily="34" charset="0"/>
              <a:buChar char="–"/>
            </a:pPr>
            <a:r>
              <a:rPr lang="ru-RU" dirty="0"/>
              <a:t>Большая часть игрушек — импортные, часто из низкокачественного пластика с риском для здоровья.</a:t>
            </a:r>
          </a:p>
          <a:p>
            <a:pPr marL="285750" indent="-285750">
              <a:buFont typeface="Calibri" panose="020F0502020204030204" pitchFamily="34" charset="0"/>
              <a:buChar char="–"/>
            </a:pPr>
            <a:r>
              <a:rPr lang="ru-RU" dirty="0"/>
              <a:t>Значительная доля продукции не проходит проверки по безопасности (токсичные красители, острые края, слабые соединения).</a:t>
            </a:r>
          </a:p>
          <a:p>
            <a:pPr marL="285750" indent="-285750">
              <a:buFont typeface="Calibri" panose="020F0502020204030204" pitchFamily="34" charset="0"/>
              <a:buChar char="–"/>
            </a:pPr>
            <a:r>
              <a:rPr lang="ru-RU" dirty="0"/>
              <a:t>Цены растут из-за логистики и сырья, а качество остаётся под вопросом.</a:t>
            </a:r>
          </a:p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7A74C6-DCEF-47A7-B60C-681E2A480B91}"/>
              </a:ext>
            </a:extLst>
          </p:cNvPr>
          <p:cNvSpPr txBox="1"/>
          <p:nvPr/>
        </p:nvSpPr>
        <p:spPr>
          <a:xfrm>
            <a:off x="5671062" y="3512681"/>
            <a:ext cx="565785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u="sng" dirty="0"/>
              <a:t>Основная проблема, на решение которой направлен проект:</a:t>
            </a:r>
          </a:p>
          <a:p>
            <a:endParaRPr lang="ru-RU" sz="2000" u="sng" dirty="0"/>
          </a:p>
          <a:p>
            <a:r>
              <a:rPr lang="ru-RU" dirty="0"/>
              <a:t>Недостаток доступных, полностью безопасных и развивающих игрушек отечественного производства для детей младшего и среднего возраста.</a:t>
            </a:r>
          </a:p>
          <a:p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CF9BC39-B64D-48F5-AD28-B1B10CBCD0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324" y="2886104"/>
            <a:ext cx="5185287" cy="3456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854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286908-371C-46D0-AE2B-500F77DC6CB8}"/>
              </a:ext>
            </a:extLst>
          </p:cNvPr>
          <p:cNvSpPr txBox="1"/>
          <p:nvPr/>
        </p:nvSpPr>
        <p:spPr>
          <a:xfrm>
            <a:off x="798523" y="217582"/>
            <a:ext cx="10829693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 </a:t>
            </a:r>
            <a:r>
              <a:rPr lang="ru-RU" sz="2400" dirty="0"/>
              <a:t>Цель и результат проекта</a:t>
            </a:r>
          </a:p>
          <a:p>
            <a:r>
              <a:rPr lang="ru-RU" b="1" dirty="0"/>
              <a:t>Цель проекта:</a:t>
            </a:r>
          </a:p>
          <a:p>
            <a:r>
              <a:rPr lang="ru-RU" dirty="0"/>
              <a:t>Создать предприятие по производству безопасных развивающих игрушек, обеспечивающее стабильный спрос в регионе с выходом на российский рынок.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B10225-0C55-46D3-B508-79AE951CA530}"/>
              </a:ext>
            </a:extLst>
          </p:cNvPr>
          <p:cNvSpPr txBox="1"/>
          <p:nvPr/>
        </p:nvSpPr>
        <p:spPr>
          <a:xfrm>
            <a:off x="8119094" y="1692095"/>
            <a:ext cx="262612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u="sng" dirty="0"/>
              <a:t>Пользователи результата проекта:</a:t>
            </a:r>
          </a:p>
          <a:p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Дети 3–10 лет (пользователи игрушек).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Родители и опекуны (покупатели).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Детские сады, школы, центры.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Магазины и онлайн-площадки.</a:t>
            </a:r>
          </a:p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62E956-338C-42F1-86E1-21B89249F2A1}"/>
              </a:ext>
            </a:extLst>
          </p:cNvPr>
          <p:cNvSpPr txBox="1"/>
          <p:nvPr/>
        </p:nvSpPr>
        <p:spPr>
          <a:xfrm>
            <a:off x="5507448" y="1691555"/>
            <a:ext cx="210302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u="sng" dirty="0"/>
              <a:t>Требования к результату: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Соответствие стандартам безопасности.</a:t>
            </a:r>
          </a:p>
          <a:p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Конкурентная цена.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Привлекательный дизайн.</a:t>
            </a:r>
          </a:p>
          <a:p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F11E4A-7992-40A7-AEDA-704CAFC7D032}"/>
              </a:ext>
            </a:extLst>
          </p:cNvPr>
          <p:cNvSpPr txBox="1"/>
          <p:nvPr/>
        </p:nvSpPr>
        <p:spPr>
          <a:xfrm>
            <a:off x="3112846" y="1713960"/>
            <a:ext cx="205743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u="sng" dirty="0"/>
              <a:t>Результат проекта:</a:t>
            </a:r>
          </a:p>
          <a:p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Запущенное предприятие.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Производство заданного объёма.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Договоры с каналами сбыта в регионе.</a:t>
            </a:r>
          </a:p>
          <a:p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9EB5B0-B426-4426-B647-C669A5AA980E}"/>
              </a:ext>
            </a:extLst>
          </p:cNvPr>
          <p:cNvSpPr txBox="1"/>
          <p:nvPr/>
        </p:nvSpPr>
        <p:spPr>
          <a:xfrm>
            <a:off x="289651" y="1692095"/>
            <a:ext cx="282319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u="sng" dirty="0"/>
              <a:t>Способ достижения цели:</a:t>
            </a:r>
          </a:p>
          <a:p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Организация производства (помещение, оборудование, персонал).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Разработка ассортимента.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Контроль качества.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Запуск бренда и сбыта.</a:t>
            </a:r>
          </a:p>
        </p:txBody>
      </p:sp>
    </p:spTree>
    <p:extLst>
      <p:ext uri="{BB962C8B-B14F-4D97-AF65-F5344CB8AC3E}">
        <p14:creationId xmlns:p14="http://schemas.microsoft.com/office/powerpoint/2010/main" val="2474962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84F25FD-2E3B-46E4-AEE6-829AC1825C8C}"/>
              </a:ext>
            </a:extLst>
          </p:cNvPr>
          <p:cNvSpPr txBox="1"/>
          <p:nvPr/>
        </p:nvSpPr>
        <p:spPr>
          <a:xfrm>
            <a:off x="7969826" y="612844"/>
            <a:ext cx="3660470" cy="25391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u="sng" dirty="0"/>
              <a:t>Рынок сбыта продукции: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dirty="0"/>
              <a:t>Локальный: магазины игрушек, супермаркеты.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dirty="0"/>
              <a:t>Онлайн: собственный сайт, Ozon, Wildberries.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dirty="0"/>
              <a:t>Детсады, школы, развивающие центры.</a:t>
            </a:r>
          </a:p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BFA9B8-E9C0-4A75-8F7A-3AEAFD868695}"/>
              </a:ext>
            </a:extLst>
          </p:cNvPr>
          <p:cNvSpPr txBox="1"/>
          <p:nvPr/>
        </p:nvSpPr>
        <p:spPr>
          <a:xfrm>
            <a:off x="3797472" y="612844"/>
            <a:ext cx="3776931" cy="25391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ru-RU" u="sng" dirty="0"/>
              <a:t>Изменённые параметры: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dirty="0"/>
              <a:t>Снижение рисков от некачественных игрушек.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dirty="0"/>
              <a:t>Рост продаж и клиентской базы.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dirty="0"/>
              <a:t>Новые рабочие места и вклад в бюджет.</a:t>
            </a:r>
          </a:p>
          <a:p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BA8AAC-2871-4C5E-A438-E00BB78B8600}"/>
              </a:ext>
            </a:extLst>
          </p:cNvPr>
          <p:cNvSpPr txBox="1"/>
          <p:nvPr/>
        </p:nvSpPr>
        <p:spPr>
          <a:xfrm>
            <a:off x="561704" y="612844"/>
            <a:ext cx="2840345" cy="4201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ru-RU" u="sng" dirty="0"/>
              <a:t>Ситуация после реализации проекта: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dirty="0"/>
              <a:t>В регионе работает новое предприятие с безопасными игрушками.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dirty="0"/>
              <a:t>Увеличивается доля сертифицированных отечественных товаров в продаже.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dirty="0"/>
              <a:t>Повышается доверие к местному производству.</a:t>
            </a:r>
          </a:p>
          <a:p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72943B9-5404-467A-A518-1F888621212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25" b="8434"/>
          <a:stretch/>
        </p:blipFill>
        <p:spPr>
          <a:xfrm>
            <a:off x="3914775" y="3197091"/>
            <a:ext cx="6858000" cy="315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33825"/>
      </p:ext>
    </p:extLst>
  </p:cSld>
  <p:clrMapOvr>
    <a:masterClrMapping/>
  </p:clrMapOvr>
</p:sld>
</file>

<file path=ppt/theme/theme1.xml><?xml version="1.0" encoding="utf-8"?>
<a:theme xmlns:a="http://schemas.openxmlformats.org/drawingml/2006/main" name="Вид">
  <a:themeElements>
    <a:clrScheme name="Другая 41">
      <a:dk1>
        <a:srgbClr val="522C21"/>
      </a:dk1>
      <a:lt1>
        <a:srgbClr val="EEEBE4"/>
      </a:lt1>
      <a:dk2>
        <a:srgbClr val="CBD6CA"/>
      </a:dk2>
      <a:lt2>
        <a:srgbClr val="D0DCE4"/>
      </a:lt2>
      <a:accent1>
        <a:srgbClr val="7E9A7C"/>
      </a:accent1>
      <a:accent2>
        <a:srgbClr val="7E9A7C"/>
      </a:accent2>
      <a:accent3>
        <a:srgbClr val="7E9A7C"/>
      </a:accent3>
      <a:accent4>
        <a:srgbClr val="7E9A7C"/>
      </a:accent4>
      <a:accent5>
        <a:srgbClr val="A55A43"/>
      </a:accent5>
      <a:accent6>
        <a:srgbClr val="7E9A7C"/>
      </a:accent6>
      <a:hlink>
        <a:srgbClr val="E98052"/>
      </a:hlink>
      <a:folHlink>
        <a:srgbClr val="F4B69B"/>
      </a:folHlink>
    </a:clrScheme>
    <a:fontScheme name="Вид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Вид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Посылка</Template>
  <TotalTime>116</TotalTime>
  <Words>291</Words>
  <Application>Microsoft Office PowerPoint</Application>
  <PresentationFormat>Широкоэкранный</PresentationFormat>
  <Paragraphs>60</Paragraphs>
  <Slides>4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10" baseType="lpstr">
      <vt:lpstr>Arial</vt:lpstr>
      <vt:lpstr>Calibri</vt:lpstr>
      <vt:lpstr>Century Schoolbook</vt:lpstr>
      <vt:lpstr>Wingdings</vt:lpstr>
      <vt:lpstr>Wingdings 2</vt:lpstr>
      <vt:lpstr>Вид</vt:lpstr>
      <vt:lpstr>«Создание предприятия по производству безопасных развивающих игрушек для детей 3–10 лет»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«Создание предприятия по производству безопасных развивающих игрушек для детей 3–10 лет»</dc:title>
  <dc:creator>Эму Отори</dc:creator>
  <cp:lastModifiedBy>maffy</cp:lastModifiedBy>
  <cp:revision>45</cp:revision>
  <dcterms:created xsi:type="dcterms:W3CDTF">2026-03-11T21:10:35Z</dcterms:created>
  <dcterms:modified xsi:type="dcterms:W3CDTF">2026-03-15T20:36:58Z</dcterms:modified>
</cp:coreProperties>
</file>